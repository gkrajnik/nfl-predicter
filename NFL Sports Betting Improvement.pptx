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530" r:id="rId5"/>
    <p:sldId id="562" r:id="rId6"/>
    <p:sldId id="551" r:id="rId7"/>
    <p:sldId id="546" r:id="rId8"/>
    <p:sldId id="552" r:id="rId9"/>
    <p:sldId id="554" r:id="rId10"/>
    <p:sldId id="555" r:id="rId11"/>
    <p:sldId id="548" r:id="rId12"/>
    <p:sldId id="547" r:id="rId13"/>
    <p:sldId id="549" r:id="rId14"/>
    <p:sldId id="553" r:id="rId15"/>
    <p:sldId id="267" r:id="rId16"/>
    <p:sldId id="534" r:id="rId17"/>
    <p:sldId id="545" r:id="rId18"/>
    <p:sldId id="536" r:id="rId19"/>
    <p:sldId id="556" r:id="rId20"/>
    <p:sldId id="558" r:id="rId21"/>
    <p:sldId id="559" r:id="rId22"/>
    <p:sldId id="560" r:id="rId23"/>
    <p:sldId id="565" r:id="rId24"/>
    <p:sldId id="566" r:id="rId25"/>
    <p:sldId id="54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4422"/>
  </p:normalViewPr>
  <p:slideViewPr>
    <p:cSldViewPr snapToGrid="0">
      <p:cViewPr varScale="1">
        <p:scale>
          <a:sx n="90" d="100"/>
          <a:sy n="90" d="100"/>
        </p:scale>
        <p:origin x="1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E355-EE5B-C6FF-9F5C-B9F17A21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456D7-B78F-2A24-446C-2BD8E3D01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F8262-0367-2B14-21E9-3256E8D17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5460C-41BB-2156-4CFE-93D02374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1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806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E2A4-C75B-C45A-4EC4-01B8A1B4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3D2DC-4D99-0686-618E-AE09EA62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07D44-62F2-213D-8881-BCB3BC82A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F2D34-0F4B-5C11-F0A0-66384FEBB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44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682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4962-D3DF-C7B5-DFF0-97F9CCAA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233B2-52E8-F55E-AA1E-4323C48A0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EA97B-5E49-DFE3-C732-CE2CCD06A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F8671-C6E4-A065-B56B-64C9BA9C7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76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EE86-4FE5-C38E-C777-173E2D63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A9C5A-70B9-960C-4F0F-A94E2E55C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425CA-B5DE-5D92-1B6E-982D06894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C38D7-5874-0175-D67C-68E18FC97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889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2DB5-9A5E-B322-7548-916E61C3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B503E-41B2-2E57-8C33-11A2664D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D3CC2-91B5-6D66-49E6-9CE02505C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8FE82-4BE4-1F50-267E-106F693C1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23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B901-0E3F-3AD3-79F7-ADB43B3F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0A528-96EE-6C9E-F3FB-8674475C4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50D6B-8678-DF08-9F55-3075E438B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E452A-E3DB-9E42-DF95-9A679A109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69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EECF-A176-BA85-9C43-F8ED66DE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0B69F-EA9F-CE8A-C085-DF48C75FD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8730E-E89E-9158-0546-7809BC1D8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C8003-1983-F0AA-7AC3-1B9D10494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78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E409F-7EB1-3804-46DD-B7114C9D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52926-4337-F84C-F7F2-0078A6648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125C7-799F-4543-C80C-60F35C842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08BAD-7C4E-627C-6D9F-6B948769D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42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krajnik/NFL-Predictor/blob/main/NFLPredictorREG.ipyn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gkrajnik/NFL-Predictor/blob/main/Linear%20Regression%20Graph.ipynb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NFL Sports Betting Improvement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Brody Goettl, Garrett Krajnik, Ian Nie, Matt Minor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1438-13C4-84FA-5706-0C9F7FBC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CC39-B578-89FD-C823-67BD6EACD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9343E-5284-2B2F-1F05-B871DF463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8340" y="3581400"/>
            <a:ext cx="8275320" cy="1196340"/>
          </a:xfrm>
        </p:spPr>
        <p:txBody>
          <a:bodyPr/>
          <a:lstStyle/>
          <a:p>
            <a:r>
              <a:rPr lang="en-US" dirty="0"/>
              <a:t>We created a program that predicts winners of 2024 NFL regular season games and creates a pie chart to show win percentages to improve betting.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58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CBD6-BAF7-1067-BA8D-0655D41FA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6FCE4-CDD8-1571-B734-F4DF4F5B7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63C2E-4FB9-E052-F955-9FF31CE5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1" spc="600">
                <a:ln w="28575">
                  <a:noFill/>
                  <a:prstDash val="solid"/>
                </a:ln>
              </a:rPr>
              <a:t>Motivation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226DD2-8289-E014-C5CA-BB73B0D0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Our group is very interested in sports, and a big part of sports that has been expanding recently is the sports betting/gambling industry.</a:t>
            </a:r>
          </a:p>
          <a:p>
            <a:r>
              <a:rPr lang="en-US" sz="2200"/>
              <a:t>We all are NFL fans, so we decided to make a model for improving our NFL betting.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24403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A0C01B5-1FB8-FF14-87AE-C5BFACF49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FFFD4-A086-7DB4-3896-826AE2B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A346-91B0-2709-B823-BBC585412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88% (14/16) accuracy with the Packer and Vikings games</a:t>
            </a:r>
          </a:p>
          <a:p>
            <a:r>
              <a:rPr lang="en-US" dirty="0"/>
              <a:t>75% (12/16) accuracy with the Bears and Lions games</a:t>
            </a:r>
          </a:p>
          <a:p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DFE126F-325A-67AB-0C1F-AA66DF0154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11163"/>
            <a:ext cx="522288" cy="311150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1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C25C-D860-3204-489D-92D44944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824B-CBD5-B152-AC41-7278B11D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566928"/>
            <a:ext cx="8878824" cy="59436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Results: CORRECT &amp; INCORRECT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C99A96-A0E6-BBB1-72D4-79B10A77AA6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2849" y="1695694"/>
            <a:ext cx="4971146" cy="397234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1EE20E9-59C9-8F09-8D25-06054450E1E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84748" y="1189960"/>
            <a:ext cx="4971146" cy="4589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C5E90-FF91-1115-F3EA-0867A8A4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202241A-62C5-BC18-6BA8-70AB21424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2849" y="1189960"/>
            <a:ext cx="4971146" cy="43497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4" name="Picture 13" descr="A blue and red circle with text&#10;&#10;AI-generated content may be incorrect.">
            <a:extLst>
              <a:ext uri="{FF2B5EF4-FFF2-40B4-BE49-F238E27FC236}">
                <a16:creationId xmlns:a16="http://schemas.microsoft.com/office/drawing/2014/main" id="{47F10DE9-E662-0255-50A6-8D8381826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1708197"/>
            <a:ext cx="4971146" cy="39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60B7-C0E7-ED5C-0A79-F8E9A6EB2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F468-BB58-6D20-5149-C517E6953B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1608C-705C-BCB7-3561-DA2F1C039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F1CF-BAE1-9A18-1842-1ED3A007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AA4C-3D3C-8D87-9A0B-DC642CFF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809244"/>
            <a:ext cx="1049731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Methodology: datasets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6061C4E-5E74-4BF1-482D-F2BAAAB1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Took Datasets </a:t>
            </a:r>
            <a:r>
              <a:rPr lang="en-US"/>
              <a:t>from Kaggle</a:t>
            </a:r>
          </a:p>
          <a:p>
            <a:r>
              <a:rPr lang="en-US" dirty="0"/>
              <a:t>Compared variables using linear regression graphs</a:t>
            </a:r>
          </a:p>
          <a:p>
            <a:r>
              <a:rPr lang="en-US" dirty="0"/>
              <a:t>Narrowed down variables in datasets</a:t>
            </a:r>
          </a:p>
          <a:p>
            <a:r>
              <a:rPr lang="en-US" dirty="0"/>
              <a:t>Created a Point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FAE0A-9228-EA0E-5EC6-7A01BE4DC1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E6EB-5E97-F77E-7B00-F0D88DFE83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F45F5-2599-5403-259F-F490D2B30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0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0AD58-F3A6-74DC-1747-067DACB49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DB274-2C62-57B1-A3E6-918F5570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827532"/>
            <a:ext cx="8878824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Point System: offense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6E73-2310-880E-4335-72EE362A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dirty="0"/>
              <a:t>70 points for a touchdown</a:t>
            </a:r>
          </a:p>
          <a:p>
            <a:pPr>
              <a:lnSpc>
                <a:spcPct val="140000"/>
              </a:lnSpc>
            </a:pPr>
            <a:r>
              <a:rPr lang="en-US" dirty="0"/>
              <a:t>30 points for a field goal</a:t>
            </a:r>
          </a:p>
          <a:p>
            <a:pPr>
              <a:lnSpc>
                <a:spcPct val="140000"/>
              </a:lnSpc>
            </a:pPr>
            <a:r>
              <a:rPr lang="en-US" dirty="0"/>
              <a:t>10 points for an extra point</a:t>
            </a:r>
          </a:p>
          <a:p>
            <a:pPr>
              <a:lnSpc>
                <a:spcPct val="140000"/>
              </a:lnSpc>
            </a:pPr>
            <a:r>
              <a:rPr lang="en-US" dirty="0"/>
              <a:t>10 points for total of first downs</a:t>
            </a:r>
          </a:p>
          <a:p>
            <a:pPr>
              <a:lnSpc>
                <a:spcPct val="140000"/>
              </a:lnSpc>
            </a:pPr>
            <a:r>
              <a:rPr lang="en-US" dirty="0"/>
              <a:t>1 point per yard</a:t>
            </a:r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48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9BAD2-46F8-F80A-EDC8-516D2DC6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19977-A827-F6E2-351B-2EF262D664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04299-D11E-67F2-2A0A-70B0F64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827532"/>
            <a:ext cx="8878824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Point System: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0894-892C-C21B-0AA4-8F30DF201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70 points for a touchdown</a:t>
            </a:r>
          </a:p>
          <a:p>
            <a:r>
              <a:rPr lang="en-US" dirty="0"/>
              <a:t>50 points for interceptions</a:t>
            </a:r>
          </a:p>
          <a:p>
            <a:r>
              <a:rPr lang="en-US" dirty="0"/>
              <a:t>20 points for sacks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55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F2CCD-7ADA-DE66-42E0-CCD8191D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F8ED-F6F3-CAA3-820C-32E4EE29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Point System: Graphs Kept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2068C427-4C61-79C0-0E8C-4FDB12E0E86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058194"/>
            <a:ext cx="5181600" cy="38862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Content Placeholder 4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E6BFCCDE-AEA8-2D2D-7455-A7F5F9F34C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43088" y="2058193"/>
            <a:ext cx="5802548" cy="38921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21850-ECC0-2149-5191-D6105D2F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4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 txBox="1"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/>
              <a:t>POINT SYSTEM: GRAPHS DISCARDED</a:t>
            </a:r>
            <a:endParaRPr/>
          </a:p>
        </p:txBody>
      </p:sp>
      <p:sp>
        <p:nvSpPr>
          <p:cNvPr id="327" name="Google Shape;327;p12"/>
          <p:cNvSpPr txBox="1">
            <a:spLocks noGrp="1"/>
          </p:cNvSpPr>
          <p:nvPr>
            <p:ph type="sldNum" idx="12"/>
          </p:nvPr>
        </p:nvSpPr>
        <p:spPr>
          <a:xfrm>
            <a:off x="329184" y="411480"/>
            <a:ext cx="52120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28" name="Google Shape;328;p12" title="wins_based_on_safeties_20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00" y="2001050"/>
            <a:ext cx="52578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2" title="wins_based_on_solo_tackles_2024.png"/>
          <p:cNvPicPr preferRelativeResize="0"/>
          <p:nvPr/>
        </p:nvPicPr>
        <p:blipFill rotWithShape="1">
          <a:blip r:embed="rId4">
            <a:alphaModFix/>
          </a:blip>
          <a:srcRect t="1507" r="3975" b="2467"/>
          <a:stretch/>
        </p:blipFill>
        <p:spPr>
          <a:xfrm>
            <a:off x="6096000" y="2001050"/>
            <a:ext cx="5257800" cy="39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56F9-720F-CEC5-E9EF-8BAD9D63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0A25-6D00-52DB-2FC8-17CCD6E3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: Dependencies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B42608-139F-765D-59BF-DF63E576C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OS version: Python 3.13 (Jupyter hub)</a:t>
            </a:r>
          </a:p>
          <a:p>
            <a:r>
              <a:rPr lang="en-US" dirty="0"/>
              <a:t>Libraries: 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matplotlib.pyplot</a:t>
            </a:r>
            <a:r>
              <a:rPr lang="en-US" dirty="0"/>
              <a:t>, sys, seaborn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80972-DAB8-C444-E153-BB6F0DA818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9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CoDe:DAta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5819D06-C37B-6739-7C91-98CF603AE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NFL Predictor</a:t>
            </a:r>
            <a:endParaRPr lang="en-US" dirty="0"/>
          </a:p>
          <a:p>
            <a:r>
              <a:rPr lang="en-US" dirty="0">
                <a:hlinkClick r:id="rId4"/>
              </a:rPr>
              <a:t>Linear Regression Graph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354B-3C2C-6421-E9E9-65A3CB90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29E9-0974-5D56-6F25-DBD58889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: Edge Cases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BA0E424A-2B40-34B6-6BA0-11050DC84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1: lack of evidence error</a:t>
            </a:r>
          </a:p>
          <a:p>
            <a:r>
              <a:rPr lang="en-US" dirty="0"/>
              <a:t>Bye week: producing error</a:t>
            </a:r>
          </a:p>
          <a:p>
            <a:r>
              <a:rPr lang="en-US" dirty="0"/>
              <a:t>Post season error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5DBD1-47C3-EB38-DE11-20F97C36D9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87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9CB9-48D2-979B-6B62-413AA6DC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B37E-2F35-5096-71DF-F3A50AE9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: Edge Cases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C135D1D-062E-3116-CC60-160BFC37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1: lack of evidence error (boxes 3 and 4)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7569A-FA8D-E91B-FB8E-05E120F51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 descr="A close up of a message&#10;&#10;AI-generated content may be incorrect.">
            <a:extLst>
              <a:ext uri="{FF2B5EF4-FFF2-40B4-BE49-F238E27FC236}">
                <a16:creationId xmlns:a16="http://schemas.microsoft.com/office/drawing/2014/main" id="{A07837A1-4FD6-7706-89CB-72CD8B1F1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04" y="3729902"/>
            <a:ext cx="9951484" cy="19317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66E793-858D-2B66-FA46-73306B9DA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04" y="2799795"/>
            <a:ext cx="9959786" cy="83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36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FE6A-D0AF-59D6-860D-16AC1595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AB4E-DB75-A795-7428-E1BB51F07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: Edge Cases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C5C24BFE-D8A4-20EE-6911-BDE902092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Bye week: producing error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708BE-776A-70CA-6199-D4CB2661E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 descr="A close up of a message&#10;&#10;AI-generated content may be incorrect.">
            <a:extLst>
              <a:ext uri="{FF2B5EF4-FFF2-40B4-BE49-F238E27FC236}">
                <a16:creationId xmlns:a16="http://schemas.microsoft.com/office/drawing/2014/main" id="{D3B01406-3982-785C-64D3-79ED1F6E4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34" y="4222251"/>
            <a:ext cx="6560820" cy="1636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E6AD3E-4820-0BD4-3B8E-B6052AD24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934" y="2749027"/>
            <a:ext cx="6560820" cy="137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2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DEC4-B6AC-F4C6-EB12-50D919F15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BCC0-9252-4406-FFC5-200C31C9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dirty="0" err="1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CoDe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: Edge Cases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67487FD0-80B5-0879-AEC7-A783EBF58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season error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ABB0A-660A-821D-23D5-9109F9C0A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D6880F-3511-EF4E-AB01-2DA7163C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547" y="3818045"/>
            <a:ext cx="7744906" cy="1481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12F25-9773-6405-2078-F9F0DB201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547" y="2878411"/>
            <a:ext cx="774490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2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0E33-D7F6-AB85-FFC4-35E10B6F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7CDD-89DC-B4B4-436C-D01D10CCD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24C30-8BE8-95A2-7B2C-DBCC34306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8340" y="3581400"/>
            <a:ext cx="8275320" cy="11963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377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0DBC-4DA6-8E18-0BE9-3134A912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291D-5A43-2909-D6CA-D3FCBBE39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Futu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re Improvements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3ED240CF-7F60-17A5-952F-4CDC45F7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 the problem of a bye week</a:t>
            </a:r>
          </a:p>
          <a:p>
            <a:r>
              <a:rPr lang="en-US" dirty="0"/>
              <a:t>Incorporate a momentum meter for in game predictions</a:t>
            </a:r>
          </a:p>
          <a:p>
            <a:r>
              <a:rPr lang="en-US" dirty="0"/>
              <a:t>Real-time data analysis</a:t>
            </a:r>
          </a:p>
          <a:p>
            <a:r>
              <a:rPr lang="en-US" dirty="0"/>
              <a:t>Predicting post-season</a:t>
            </a:r>
          </a:p>
          <a:p>
            <a:r>
              <a:rPr lang="en-US" dirty="0"/>
              <a:t>Injuries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0E92F-5165-4780-8577-AF10BC9FB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" name="Content Placeholder 11">
            <a:extLst>
              <a:ext uri="{FF2B5EF4-FFF2-40B4-BE49-F238E27FC236}">
                <a16:creationId xmlns:a16="http://schemas.microsoft.com/office/drawing/2014/main" id="{130D63F8-045C-59C3-86D2-3B623E700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2046884"/>
            <a:ext cx="4707494" cy="434607"/>
          </a:xfrm>
          <a:prstGeom prst="rect">
            <a:avLst/>
          </a:prstGeom>
        </p:spPr>
      </p:pic>
      <p:pic>
        <p:nvPicPr>
          <p:cNvPr id="4" name="Picture 3" descr="A blue and red circle with text&#10;&#10;AI-generated content may be incorrect.">
            <a:extLst>
              <a:ext uri="{FF2B5EF4-FFF2-40B4-BE49-F238E27FC236}">
                <a16:creationId xmlns:a16="http://schemas.microsoft.com/office/drawing/2014/main" id="{25A66A36-FEBA-D3F0-5E14-52FCC0159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080" y="2481491"/>
            <a:ext cx="4707494" cy="3737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96B99A-EAE7-4C8A-9DC9-C97E9FC008D2}"/>
              </a:ext>
            </a:extLst>
          </p:cNvPr>
          <p:cNvSpPr txBox="1"/>
          <p:nvPr/>
        </p:nvSpPr>
        <p:spPr>
          <a:xfrm>
            <a:off x="1014984" y="2873156"/>
            <a:ext cx="561594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The lions had just come off a bye week, and since bye weeks have no point total, they get a zero for last week. Green bay had their bye the following week, so they had more weeks to gain points and in turn had a higher point total only because they played more games.</a:t>
            </a:r>
          </a:p>
        </p:txBody>
      </p:sp>
    </p:spTree>
    <p:extLst>
      <p:ext uri="{BB962C8B-B14F-4D97-AF65-F5344CB8AC3E}">
        <p14:creationId xmlns:p14="http://schemas.microsoft.com/office/powerpoint/2010/main" val="427749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BF95AD5E3A4469B99B567604783A1" ma:contentTypeVersion="17" ma:contentTypeDescription="Create a new document." ma:contentTypeScope="" ma:versionID="630b6688411965b7f514d68e2bc93f94">
  <xsd:schema xmlns:xsd="http://www.w3.org/2001/XMLSchema" xmlns:xs="http://www.w3.org/2001/XMLSchema" xmlns:p="http://schemas.microsoft.com/office/2006/metadata/properties" xmlns:ns3="2d290ab1-6ae3-43d0-967a-a79a5dd48b5e" xmlns:ns4="f529a1f2-c3c2-4e60-9dd5-19df06c1748e" targetNamespace="http://schemas.microsoft.com/office/2006/metadata/properties" ma:root="true" ma:fieldsID="139834d912c3cdc2ab714a3600259b68" ns3:_="" ns4:_="">
    <xsd:import namespace="2d290ab1-6ae3-43d0-967a-a79a5dd48b5e"/>
    <xsd:import namespace="f529a1f2-c3c2-4e60-9dd5-19df06c174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290ab1-6ae3-43d0-967a-a79a5dd48b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29a1f2-c3c2-4e60-9dd5-19df06c1748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2d290ab1-6ae3-43d0-967a-a79a5dd48b5e" xsi:nil="true"/>
    <_activity xmlns="2d290ab1-6ae3-43d0-967a-a79a5dd48b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C90FC-146F-4404-9DF4-6BA35036E0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290ab1-6ae3-43d0-967a-a79a5dd48b5e"/>
    <ds:schemaRef ds:uri="f529a1f2-c3c2-4e60-9dd5-19df06c174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purl.org/dc/dcmitype/"/>
    <ds:schemaRef ds:uri="http://schemas.microsoft.com/office/infopath/2007/PartnerControls"/>
    <ds:schemaRef ds:uri="2d290ab1-6ae3-43d0-967a-a79a5dd48b5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29a1f2-c3c2-4e60-9dd5-19df06c1748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16379</TotalTime>
  <Words>404</Words>
  <Application>Microsoft Office PowerPoint</Application>
  <PresentationFormat>Widescreen</PresentationFormat>
  <Paragraphs>88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Segoe UI Light</vt:lpstr>
      <vt:lpstr>Tw Cen MT</vt:lpstr>
      <vt:lpstr>Twentieth Century</vt:lpstr>
      <vt:lpstr>Office Theme</vt:lpstr>
      <vt:lpstr>NFL Sports Betting Improvement</vt:lpstr>
      <vt:lpstr>project</vt:lpstr>
      <vt:lpstr>Motivation</vt:lpstr>
      <vt:lpstr>Results</vt:lpstr>
      <vt:lpstr>Results: CORRECT &amp; INCORRECT</vt:lpstr>
      <vt:lpstr>Methodology</vt:lpstr>
      <vt:lpstr>Methodology: datasets</vt:lpstr>
      <vt:lpstr>Point System</vt:lpstr>
      <vt:lpstr>Point System: offense</vt:lpstr>
      <vt:lpstr>Point System: Defense</vt:lpstr>
      <vt:lpstr>Point System: Graphs Kept</vt:lpstr>
      <vt:lpstr>POINT SYSTEM: GRAPHS DISCARDED</vt:lpstr>
      <vt:lpstr>Code</vt:lpstr>
      <vt:lpstr>CoDe: Dependencies</vt:lpstr>
      <vt:lpstr>CoDe:DAta</vt:lpstr>
      <vt:lpstr>CoDe: Edge Cases</vt:lpstr>
      <vt:lpstr>CoDe: Edge Cases</vt:lpstr>
      <vt:lpstr>CoDe: Edge Cases</vt:lpstr>
      <vt:lpstr>CoDe: Edge Cases</vt:lpstr>
      <vt:lpstr>Future Improvements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Minor, Matthew William</dc:creator>
  <cp:lastModifiedBy>Minor, Matthew William</cp:lastModifiedBy>
  <cp:revision>12</cp:revision>
  <dcterms:created xsi:type="dcterms:W3CDTF">2025-12-04T18:27:59Z</dcterms:created>
  <dcterms:modified xsi:type="dcterms:W3CDTF">2025-12-17T19:47:16Z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0x010100BC8BF95AD5E3A4469B99B567604783A1</vt:lpwstr>
  </property>
</Properties>
</file>